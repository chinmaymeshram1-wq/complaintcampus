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1" r:id="rId2"/>
    <p:sldId id="273" r:id="rId3"/>
    <p:sldId id="274" r:id="rId4"/>
    <p:sldId id="278" r:id="rId5"/>
    <p:sldId id="279" r:id="rId6"/>
    <p:sldId id="283" r:id="rId7"/>
    <p:sldId id="286" r:id="rId8"/>
    <p:sldId id="288" r:id="rId17"/>
    <p:sldId id="289" r:id="rId18"/>
    <p:sldId id="290" r:id="rId19"/>
    <p:sldId id="291" r:id="rId20"/>
    <p:sldId id="282" r:id="rId9"/>
    <p:sldId id="292" r:id="rId21"/>
    <p:sldId id="293" r:id="rId22"/>
    <p:sldId id="294" r:id="rId23"/>
    <p:sldId id="295" r:id="rId24"/>
    <p:sldId id="296" r:id="rId25"/>
    <p:sldId id="297" r:id="rId26"/>
    <p:sldId id="298" r:id="rId27"/>
    <p:sldId id="299" r:id="rId28"/>
    <p:sldId id="285" r:id="rId11"/>
    <p:sldId id="266" r:id="rId12"/>
    <p:sldId id="300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4EAD6-CBEC-D958-052B-DF3D178A2B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247DD5-27FB-0312-0196-9F9CCB4913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BA96B0-42F0-B6BE-858E-3F37A9A6C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6D578-061C-4071-8D51-F02C030A290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A639AE-19E0-5C98-4257-3293FB2F9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C73843-D0C1-A20A-550F-80D891FEE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67D40-EEFE-4466-B099-C574B297BB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3644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4574C-88E1-CA88-D90F-C8870707F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67DEAE-A6FD-633C-AEB4-3393539F5C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C33A0C-F086-C588-50C8-7D2EBEFB6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6D578-061C-4071-8D51-F02C030A290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E36910-BB6C-F6DA-E286-B0C859B02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6F91D5-4019-B8A3-FF45-788CC2DCF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67D40-EEFE-4466-B099-C574B297BB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2093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F0A4F-242E-F988-3B0B-8DF460608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24A98B-20F2-963F-252F-C72C13EB9D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7C30F4-5524-B2A9-A88F-933679444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6D578-061C-4071-8D51-F02C030A290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E7AC5F-C46D-6FEC-8B5C-AA2CB3D93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C4D8A6-6654-F295-C924-07829EC7D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67D40-EEFE-4466-B099-C574B297BB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8640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8DE40-9CE3-9C7C-2EA7-74173CF33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AE6194-BFCB-D472-F868-67595B56C3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27D141-56C8-3C59-7CE7-D014F56EBE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A8B708-1173-AC6C-C8AC-7A5277DD8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6D578-061C-4071-8D51-F02C030A290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8437C3-A812-F5C8-B35B-937287CD7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188DF2-6D47-EAFE-AF8D-F7C53A43C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67D40-EEFE-4466-B099-C574B297BB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0635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699F3-C024-7F37-C217-85ACCFF75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4C6FA5-4E9C-FB89-D897-57508A3A40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D28EFC-2081-F9A1-0683-A5B79A9613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57310F-29AF-DC98-A254-A2B54CACB8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B6301E9-32B7-E2C3-E891-A47935730F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F7B11D-22FF-DE88-9778-DC042C185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6D578-061C-4071-8D51-F02C030A290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B32D4A-76B9-098B-381B-10DC2A187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A64648-F8E2-26B8-E78D-2DAA099D6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67D40-EEFE-4466-B099-C574B297BB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459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AFAA1-907F-D1D9-F65D-9C1832C52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2FA723-2B95-BBF2-EF05-1644BB3E7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6D578-061C-4071-8D51-F02C030A290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744646-39F2-9FE8-B234-7F0382EB9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606650-3D0C-881E-4F95-11C874E32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67D40-EEFE-4466-B099-C574B297BB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0991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06F110-23CB-E8E6-4583-5008169D5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6D578-061C-4071-8D51-F02C030A290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963593-A526-8E35-FB54-DFE0A64C0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5899F8-95FB-0C94-1B53-96A017ECE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67D40-EEFE-4466-B099-C574B297BB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11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BC4A6-F9C8-A369-7E98-657C0144A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72442A-7056-B452-15E9-CB75E13455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35007C-919C-5C49-54AD-59C0D01A4A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3B09C3-B0D5-5B5F-FB7A-E8131892B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6D578-061C-4071-8D51-F02C030A290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C5F6E0-1F09-647C-8267-ACB14FF2C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809AAC-231F-104F-701E-86FA8E0CC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67D40-EEFE-4466-B099-C574B297BB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8241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BB0BC-955C-6259-0C09-F95A4EA79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F2C449-8583-5CBB-B1BA-15CDF8ADE0C7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8A6FAF-4390-D4A4-D40B-BBC2DC7A24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C73FBD-AF5C-4504-6CF9-FA0C24276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6D578-061C-4071-8D51-F02C030A290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566D8A-55A6-ED20-C8D3-A57B5941A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F22228-488D-1C7D-8921-249F2F748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67D40-EEFE-4466-B099-C574B297BB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3371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EC974-BB87-7CCB-2005-646209400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495598-0AD3-23E0-C1DF-686DE78432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73726A-2A81-2FEA-9E09-B01452872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6D578-061C-4071-8D51-F02C030A290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B75DBC-AB3B-38A8-2C6D-05B25B081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B45377-CBAC-9157-C71C-C9FC1A32A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67D40-EEFE-4466-B099-C574B297BB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7266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1BC834-D2C7-5BF7-3FEF-762AFD087E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4A58CB-BBFA-0C16-97D0-8E99B7CCF0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56352F-6DE8-F4F6-380B-86D9CF294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6D578-061C-4071-8D51-F02C030A290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9F8900-4E1C-38A0-A311-748FCC175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706696-EC0E-274D-BE79-B5346AF58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67D40-EEFE-4466-B099-C574B297BB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82825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09FCB2-1FEB-98CD-A6C9-AC2960F4F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2C1B98-D54B-6F09-F374-8399108709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369A09-2D46-2FC9-EFEC-9C86201684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26D578-061C-4071-8D51-F02C030A290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2CC292-2F1B-59B1-65BB-882C3DF93F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A7B9F5-4432-D1D7-8493-2685B59208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867D40-EEFE-4466-B099-C574B297BB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0649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JSPM s Rajarshi Shahu College of Engineering, Tathawade - 2023 Admission,  Fees, Courses, Ranking, Placement">
            <a:extLst>
              <a:ext uri="{FF2B5EF4-FFF2-40B4-BE49-F238E27FC236}">
                <a16:creationId xmlns:a16="http://schemas.microsoft.com/office/drawing/2014/main" id="{2AC37EFD-D716-4491-B060-F82231047A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38665" cy="102473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F609B56-7E2F-4878-BFF9-1726B9C0D8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2544" y="41200"/>
            <a:ext cx="1003735" cy="93767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7389D3B-D090-41D6-BB8D-F8D1A3EC2634}"/>
              </a:ext>
            </a:extLst>
          </p:cNvPr>
          <p:cNvSpPr txBox="1"/>
          <p:nvPr/>
        </p:nvSpPr>
        <p:spPr>
          <a:xfrm>
            <a:off x="1038666" y="-36784"/>
            <a:ext cx="980986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713232">
              <a:spcBef>
                <a:spcPct val="50000"/>
              </a:spcBef>
              <a:defRPr/>
            </a:pPr>
            <a:r>
              <a:rPr lang="en-US" sz="1400" b="1" dirty="0">
                <a:solidFill>
                  <a:sysClr val="windowText" lastClr="000000"/>
                </a:solidFill>
                <a:latin typeface="Bookman Old Style" panose="02050604050505020204" pitchFamily="18" charset="0"/>
              </a:rPr>
              <a:t>JSPM’s </a:t>
            </a:r>
            <a:br>
              <a:rPr lang="en-US" sz="1400" b="1" dirty="0">
                <a:solidFill>
                  <a:sysClr val="windowText" lastClr="000000"/>
                </a:solidFill>
                <a:latin typeface="Bookman Old Style" panose="02050604050505020204" pitchFamily="18" charset="0"/>
              </a:rPr>
            </a:br>
            <a:r>
              <a:rPr lang="en-US" sz="1400" b="1" dirty="0" err="1">
                <a:solidFill>
                  <a:sysClr val="windowText" lastClr="000000"/>
                </a:solidFill>
                <a:latin typeface="Bookman Old Style" panose="02050604050505020204" pitchFamily="18" charset="0"/>
              </a:rPr>
              <a:t>Rajarshi</a:t>
            </a:r>
            <a:r>
              <a:rPr lang="en-US" sz="1400" b="1" dirty="0">
                <a:solidFill>
                  <a:sysClr val="windowText" lastClr="000000"/>
                </a:solidFill>
                <a:latin typeface="Bookman Old Style" panose="02050604050505020204" pitchFamily="18" charset="0"/>
              </a:rPr>
              <a:t> </a:t>
            </a:r>
            <a:r>
              <a:rPr lang="en-US" sz="1400" b="1" dirty="0" err="1">
                <a:solidFill>
                  <a:sysClr val="windowText" lastClr="000000"/>
                </a:solidFill>
                <a:latin typeface="Bookman Old Style" panose="02050604050505020204" pitchFamily="18" charset="0"/>
              </a:rPr>
              <a:t>Shahu</a:t>
            </a:r>
            <a:r>
              <a:rPr lang="en-US" sz="1400" b="1" dirty="0">
                <a:solidFill>
                  <a:sysClr val="windowText" lastClr="000000"/>
                </a:solidFill>
                <a:latin typeface="Bookman Old Style" panose="02050604050505020204" pitchFamily="18" charset="0"/>
              </a:rPr>
              <a:t> College of Engineering, </a:t>
            </a:r>
            <a:r>
              <a:rPr lang="en-US" sz="1400" b="1" dirty="0" err="1">
                <a:solidFill>
                  <a:sysClr val="windowText" lastClr="000000"/>
                </a:solidFill>
                <a:latin typeface="Bookman Old Style" panose="02050604050505020204" pitchFamily="18" charset="0"/>
              </a:rPr>
              <a:t>Tathawade</a:t>
            </a:r>
            <a:r>
              <a:rPr lang="en-US" sz="1400" b="1" dirty="0">
                <a:solidFill>
                  <a:sysClr val="windowText" lastClr="000000"/>
                </a:solidFill>
                <a:latin typeface="Bookman Old Style" panose="02050604050505020204" pitchFamily="18" charset="0"/>
              </a:rPr>
              <a:t>, Pune</a:t>
            </a:r>
            <a:br>
              <a:rPr lang="en-US" sz="1400" b="1" dirty="0">
                <a:solidFill>
                  <a:sysClr val="windowText" lastClr="000000"/>
                </a:solidFill>
                <a:latin typeface="Bookman Old Style" panose="02050604050505020204" pitchFamily="18" charset="0"/>
              </a:rPr>
            </a:br>
            <a:r>
              <a:rPr lang="en-US" sz="1200" b="1" dirty="0">
                <a:solidFill>
                  <a:sysClr val="windowText" lastClr="000000"/>
                </a:solidFill>
                <a:latin typeface="Bookman Old Style" panose="02050604050505020204" pitchFamily="18" charset="0"/>
              </a:rPr>
              <a:t>(An Autonomous Institute affiliated to Savitribai Phule Pune University)</a:t>
            </a:r>
            <a:br>
              <a:rPr lang="en-US" sz="1200" b="1" dirty="0">
                <a:solidFill>
                  <a:sysClr val="windowText" lastClr="000000"/>
                </a:solidFill>
                <a:latin typeface="Bookman Old Style" panose="02050604050505020204" pitchFamily="18" charset="0"/>
              </a:rPr>
            </a:br>
            <a:r>
              <a:rPr lang="en-US" b="1" dirty="0">
                <a:solidFill>
                  <a:sysClr val="windowText" lastClr="000000"/>
                </a:solidFill>
                <a:latin typeface="Bookman Old Style" panose="02050604050505020204" pitchFamily="18" charset="0"/>
              </a:rPr>
              <a:t>Department of Computer Science and Business Systems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2AA1BD-5C37-4898-838A-C1F25A58D660}"/>
              </a:ext>
            </a:extLst>
          </p:cNvPr>
          <p:cNvSpPr txBox="1"/>
          <p:nvPr/>
        </p:nvSpPr>
        <p:spPr>
          <a:xfrm>
            <a:off x="0" y="879554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Times New Roman" pitchFamily="18" charset="0"/>
                <a:cs typeface="Times New Roman" pitchFamily="18" charset="0"/>
              </a:rPr>
              <a:t>Academic Year: 2026-27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1C74F7D-56E3-4E55-95F0-C0D8C8C11BE8}"/>
              </a:ext>
            </a:extLst>
          </p:cNvPr>
          <p:cNvSpPr txBox="1"/>
          <p:nvPr/>
        </p:nvSpPr>
        <p:spPr>
          <a:xfrm>
            <a:off x="47328" y="1631304"/>
            <a:ext cx="12047984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b="1" dirty="0">
                <a:solidFill>
                  <a:prstClr val="black"/>
                </a:solidFill>
                <a:latin typeface="Book Antiqua"/>
                <a:ea typeface="+mj-ea"/>
                <a:cs typeface="+mj-cs"/>
              </a:rPr>
              <a:t>Project Title:</a:t>
            </a:r>
            <a:r>
              <a:rPr lang="en-US" sz="2200" dirty="0">
                <a:solidFill>
                  <a:prstClr val="black"/>
                </a:solidFill>
                <a:latin typeface="Book Antiqua"/>
                <a:ea typeface="+mj-ea"/>
                <a:cs typeface="+mj-cs"/>
              </a:rPr>
              <a:t> </a:t>
            </a:r>
            <a:br>
              <a:rPr lang="en-US" sz="2000" dirty="0">
                <a:solidFill>
                  <a:prstClr val="black"/>
                </a:solidFill>
                <a:latin typeface="Book Antiqua"/>
                <a:ea typeface="+mj-ea"/>
                <a:cs typeface="+mj-cs"/>
              </a:rPr>
            </a:br>
            <a:br>
              <a:rPr lang="en-US" sz="2000" dirty="0">
                <a:solidFill>
                  <a:prstClr val="black"/>
                </a:solidFill>
                <a:latin typeface="Book Antiqua"/>
                <a:ea typeface="+mj-ea"/>
                <a:cs typeface="+mj-cs"/>
              </a:rPr>
            </a:br>
            <a:r>
              <a:rPr sz="2400" b="1">
                <a:solidFill>
                  <a:srgbClr val="1D4ED8"/>
                </a:solidFill>
                <a:latin typeface="Times New Roman"/>
              </a:rPr>
              <a:t>CampusCare – College Complaint &amp; Service Management System</a:t>
            </a:r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1429130-40B3-459E-8B41-60933F69369B}"/>
              </a:ext>
            </a:extLst>
          </p:cNvPr>
          <p:cNvSpPr txBox="1"/>
          <p:nvPr/>
        </p:nvSpPr>
        <p:spPr>
          <a:xfrm>
            <a:off x="911424" y="3125576"/>
            <a:ext cx="5328592" cy="22324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200000"/>
              </a:lnSpc>
              <a:defRPr/>
            </a:pPr>
            <a:r>
              <a:rPr lang="en-US" b="1" dirty="0">
                <a:solidFill>
                  <a:prstClr val="black"/>
                </a:solidFill>
                <a:latin typeface="Book Antiqua"/>
              </a:rPr>
              <a:t>Students Name and PRN no:</a:t>
            </a:r>
            <a:r>
              <a:rPr lang="en-US" dirty="0">
                <a:solidFill>
                  <a:prstClr val="black"/>
                </a:solidFill>
                <a:latin typeface="Book Antiqua"/>
              </a:rPr>
              <a:t> Chinmay Meshram (RBT24CB028)</a:t>
            </a:r>
            <a:br>
              <a:rPr lang="en-US" b="1" dirty="0">
                <a:solidFill>
                  <a:prstClr val="black"/>
                </a:solidFill>
                <a:latin typeface="Book Antiqua"/>
              </a:rPr>
            </a:br>
            <a:r>
              <a:rPr lang="en-US" b="1" dirty="0">
                <a:solidFill>
                  <a:prstClr val="black"/>
                </a:solidFill>
                <a:latin typeface="Book Antiqua"/>
              </a:rPr>
              <a:t>Date:</a:t>
            </a:r>
            <a:r>
              <a:rPr lang="en-US" dirty="0">
                <a:solidFill>
                  <a:prstClr val="black"/>
                </a:solidFill>
                <a:latin typeface="Book Antiqua"/>
              </a:rPr>
              <a:t> 15 October 2026</a:t>
            </a:r>
          </a:p>
          <a:p>
            <a:pPr>
              <a:lnSpc>
                <a:spcPct val="200000"/>
              </a:lnSpc>
              <a:defRPr/>
            </a:pPr>
            <a:r>
              <a:rPr lang="en-US" b="1" dirty="0">
                <a:solidFill>
                  <a:prstClr val="black"/>
                </a:solidFill>
                <a:latin typeface="Book Antiqua"/>
              </a:rPr>
              <a:t>Course Name: </a:t>
            </a:r>
            <a:r>
              <a:rPr lang="en-US" dirty="0">
                <a:solidFill>
                  <a:prstClr val="black"/>
                </a:solidFill>
                <a:latin typeface="Book Antiqua"/>
              </a:rPr>
              <a:t>Skill Development Lab-II</a:t>
            </a:r>
          </a:p>
          <a:p>
            <a:pPr>
              <a:lnSpc>
                <a:spcPct val="200000"/>
              </a:lnSpc>
              <a:defRPr/>
            </a:pPr>
            <a:r>
              <a:rPr lang="en-US" b="1" dirty="0">
                <a:solidFill>
                  <a:prstClr val="black"/>
                </a:solidFill>
                <a:latin typeface="Book Antiqua"/>
              </a:rPr>
              <a:t>Course Coordinator: </a:t>
            </a:r>
            <a:r>
              <a:rPr lang="en-US" dirty="0">
                <a:solidFill>
                  <a:prstClr val="black"/>
                </a:solidFill>
                <a:latin typeface="Book Antiqua"/>
              </a:rPr>
              <a:t>Prof. Rutuja S. Bachhav </a:t>
            </a:r>
            <a:endParaRPr lang="en-IN" dirty="0">
              <a:solidFill>
                <a:prstClr val="black"/>
              </a:solidFill>
              <a:latin typeface="Book Antiqua"/>
            </a:endParaRPr>
          </a:p>
        </p:txBody>
      </p:sp>
    </p:spTree>
    <p:extLst>
      <p:ext uri="{BB962C8B-B14F-4D97-AF65-F5344CB8AC3E}">
        <p14:creationId xmlns:p14="http://schemas.microsoft.com/office/powerpoint/2010/main" val="36023384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B2341-A07E-40AE-B9DD-ADCB962BA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rgbClr val="232D37"/>
                </a:solidFill>
                <a:latin typeface="Book Antiqua" panose="02040602050305030304" pitchFamily="18" charset="0"/>
                <a:ea typeface="+mn-ea"/>
                <a:cs typeface="+mn-cs"/>
              </a:rPr>
              <a:t>Index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635491-BB56-4043-A87B-5AFAEC2279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sz="2200" b="0">
                <a:solidFill>
                  <a:srgbClr val="232D37"/>
                </a:solidFill>
                <a:latin typeface="Times New Roman"/>
              </a:rPr>
              <a:t>Introduction</a:t>
            </a:r>
          </a:p>
          <a:p>
            <a:pPr>
              <a:spcAft>
                <a:spcPts val="600"/>
              </a:spcAft>
            </a:pPr>
            <a:r>
              <a:rPr sz="2200" b="0">
                <a:solidFill>
                  <a:srgbClr val="232D37"/>
                </a:solidFill>
                <a:latin typeface="Times New Roman"/>
              </a:rPr>
              <a:t>Problem Definition &amp; Objectives</a:t>
            </a:r>
          </a:p>
          <a:p>
            <a:pPr>
              <a:spcAft>
                <a:spcPts val="600"/>
              </a:spcAft>
            </a:pPr>
            <a:r>
              <a:rPr sz="2200" b="0">
                <a:solidFill>
                  <a:srgbClr val="232D37"/>
                </a:solidFill>
                <a:latin typeface="Times New Roman"/>
              </a:rPr>
              <a:t>Literature Survey</a:t>
            </a:r>
          </a:p>
          <a:p>
            <a:pPr>
              <a:spcAft>
                <a:spcPts val="600"/>
              </a:spcAft>
            </a:pPr>
            <a:r>
              <a:rPr sz="2200" b="0">
                <a:solidFill>
                  <a:srgbClr val="232D37"/>
                </a:solidFill>
                <a:latin typeface="Times New Roman"/>
              </a:rPr>
              <a:t>Feasibility Study</a:t>
            </a:r>
          </a:p>
          <a:p>
            <a:pPr>
              <a:spcAft>
                <a:spcPts val="600"/>
              </a:spcAft>
            </a:pPr>
            <a:r>
              <a:rPr sz="2200" b="0">
                <a:solidFill>
                  <a:srgbClr val="232D37"/>
                </a:solidFill>
                <a:latin typeface="Times New Roman"/>
              </a:rPr>
              <a:t>System Design &amp; Architecture</a:t>
            </a:r>
          </a:p>
          <a:p>
            <a:pPr>
              <a:spcAft>
                <a:spcPts val="600"/>
              </a:spcAft>
            </a:pPr>
            <a:r>
              <a:rPr sz="2200" b="0">
                <a:solidFill>
                  <a:srgbClr val="232D37"/>
                </a:solidFill>
                <a:latin typeface="Times New Roman"/>
              </a:rPr>
              <a:t>Technology &amp; Tools Used</a:t>
            </a:r>
          </a:p>
          <a:p>
            <a:pPr>
              <a:spcAft>
                <a:spcPts val="600"/>
              </a:spcAft>
            </a:pPr>
            <a:r>
              <a:rPr sz="2200" b="0">
                <a:solidFill>
                  <a:srgbClr val="232D37"/>
                </a:solidFill>
                <a:latin typeface="Times New Roman"/>
              </a:rPr>
              <a:t>Implementation &amp; Results (Screenshots)</a:t>
            </a:r>
          </a:p>
          <a:p>
            <a:pPr>
              <a:spcAft>
                <a:spcPts val="600"/>
              </a:spcAft>
            </a:pPr>
            <a:r>
              <a:rPr sz="2200" b="0">
                <a:solidFill>
                  <a:srgbClr val="232D37"/>
                </a:solidFill>
                <a:latin typeface="Times New Roman"/>
              </a:rPr>
              <a:t>Testing &amp; Results</a:t>
            </a:r>
          </a:p>
          <a:p>
            <a:pPr>
              <a:spcAft>
                <a:spcPts val="600"/>
              </a:spcAft>
            </a:pPr>
            <a:r>
              <a:rPr sz="2200" b="0">
                <a:solidFill>
                  <a:srgbClr val="232D37"/>
                </a:solidFill>
                <a:latin typeface="Times New Roman"/>
              </a:rPr>
              <a:t>Conclusion &amp; Future Scope</a:t>
            </a:r>
          </a:p>
          <a:p>
            <a:pPr>
              <a:spcAft>
                <a:spcPts val="600"/>
              </a:spcAft>
            </a:pPr>
            <a:r>
              <a:rPr sz="2200" b="0">
                <a:solidFill>
                  <a:srgbClr val="232D37"/>
                </a:solidFill>
                <a:latin typeface="Times New Roman"/>
              </a:rPr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953205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D4D90-6573-47F2-857B-6146DAACF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Book Antiqua" panose="02040602050305030304" pitchFamily="18" charset="0"/>
              </a:rPr>
              <a:t>Introduction / 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DF39FD-B974-4648-976D-1357203011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232D37"/>
                </a:solidFill>
                <a:latin typeface="Aptos"/>
              </a:defRPr>
            </a:pPr>
            <a:r>
              <a:rPr b="1" sz="1900">
                <a:solidFill>
                  <a:srgbClr val="232D37"/>
                </a:solidFill>
                <a:latin typeface="Times New Roman"/>
              </a:rPr>
              <a:t>Definition: </a:t>
            </a:r>
            <a:r>
              <a:rPr sz="1900" b="0">
                <a:solidFill>
                  <a:srgbClr val="232D37"/>
                </a:solidFill>
                <a:latin typeface="Times New Roman"/>
              </a:rPr>
              <a:t>CampusCare is a full-stack, role-based web application for lodging, routing, tracking and resolving college complaints and service requests.</a:t>
            </a:r>
          </a:p>
          <a:p>
            <a:pPr>
              <a:spcAft>
                <a:spcPts val="1000"/>
              </a:spcAft>
            </a:pPr>
            <a:r>
              <a:rPr b="1" sz="1900">
                <a:solidFill>
                  <a:srgbClr val="232D37"/>
                </a:solidFill>
                <a:latin typeface="Times New Roman"/>
              </a:rPr>
              <a:t>Overview: </a:t>
            </a:r>
            <a:r>
              <a:rPr sz="1900" b="0">
                <a:solidFill>
                  <a:srgbClr val="232D37"/>
                </a:solidFill>
                <a:latin typeface="Times New Roman"/>
              </a:rPr>
              <a:t>Students raise complaints, the admin assigns them to staff, staff report progress, and every step is shown on a live timeline with notifications.</a:t>
            </a:r>
          </a:p>
          <a:p>
            <a:pPr>
              <a:spcAft>
                <a:spcPts val="1000"/>
              </a:spcAft>
            </a:pPr>
            <a:r>
              <a:rPr b="1" sz="1900">
                <a:solidFill>
                  <a:srgbClr val="232D37"/>
                </a:solidFill>
                <a:latin typeface="Times New Roman"/>
              </a:rPr>
              <a:t>Background: </a:t>
            </a:r>
            <a:r>
              <a:rPr sz="1900" b="0">
                <a:solidFill>
                  <a:srgbClr val="232D37"/>
                </a:solidFill>
                <a:latin typeface="Times New Roman"/>
              </a:rPr>
              <a:t>Campuses still depend on paper registers, calls and WhatsApp groups – complaints get lost and nobody is accountable.</a:t>
            </a:r>
          </a:p>
          <a:p>
            <a:pPr>
              <a:spcAft>
                <a:spcPts val="1000"/>
              </a:spcAft>
            </a:pPr>
            <a:r>
              <a:rPr b="1" sz="1900">
                <a:solidFill>
                  <a:srgbClr val="232D37"/>
                </a:solidFill>
                <a:latin typeface="Times New Roman"/>
              </a:rPr>
              <a:t>Evolution: </a:t>
            </a:r>
            <a:r>
              <a:rPr sz="1900" b="0">
                <a:solidFill>
                  <a:srgbClr val="232D37"/>
                </a:solidFill>
                <a:latin typeface="Times New Roman"/>
              </a:rPr>
              <a:t>Enterprise platforms (Jakarta EE: EJB, JPA, JAX-RS, JMS) now make robust, transactional workflow systems straightforward to build.</a:t>
            </a:r>
          </a:p>
          <a:p>
            <a:pPr>
              <a:spcAft>
                <a:spcPts val="1000"/>
              </a:spcAft>
            </a:pPr>
            <a:r>
              <a:rPr b="1" sz="1900">
                <a:solidFill>
                  <a:srgbClr val="232D37"/>
                </a:solidFill>
                <a:latin typeface="Times New Roman"/>
              </a:rPr>
              <a:t>Motivation: </a:t>
            </a:r>
            <a:r>
              <a:rPr sz="1900" b="0">
                <a:solidFill>
                  <a:srgbClr val="232D37"/>
                </a:solidFill>
                <a:latin typeface="Times New Roman"/>
              </a:rPr>
              <a:t>Transparency, faster resolution and data-driven decisions for campus administration.</a:t>
            </a:r>
          </a:p>
        </p:txBody>
      </p:sp>
    </p:spTree>
    <p:extLst>
      <p:ext uri="{BB962C8B-B14F-4D97-AF65-F5344CB8AC3E}">
        <p14:creationId xmlns:p14="http://schemas.microsoft.com/office/powerpoint/2010/main" val="19833702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DE2CD-E867-43E3-B74F-DB925840D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Definition &amp; Objectives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B883C8-F666-4B87-8F8B-246C58248A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Aft>
                <a:spcPts val="800"/>
              </a:spcAft>
            </a:pPr>
            <a:r>
              <a:rPr b="1" sz="2000">
                <a:solidFill>
                  <a:srgbClr val="232D37"/>
                </a:solidFill>
                <a:latin typeface="Times New Roman"/>
              </a:rPr>
              <a:t>Problem: </a:t>
            </a:r>
            <a:r>
              <a:rPr sz="2000" b="0">
                <a:solidFill>
                  <a:srgbClr val="232D37"/>
                </a:solidFill>
                <a:latin typeface="Times New Roman"/>
              </a:rPr>
              <a:t>No single, transparent channel to report campus issues; no priority, ownership, status or history.</a:t>
            </a:r>
            <a:endParaRPr lang="en-US" sz="2000" dirty="0">
              <a:latin typeface="Book Antiqua" panose="02040602050305030304" pitchFamily="18" charset="0"/>
            </a:endParaRPr>
          </a:p>
          <a:p>
            <a:pPr>
              <a:spcAft>
                <a:spcPts val="800"/>
              </a:spcAft>
            </a:pPr>
            <a:r>
              <a:rPr b="1" sz="2000">
                <a:solidFill>
                  <a:srgbClr val="232D37"/>
                </a:solidFill>
                <a:latin typeface="Times New Roman"/>
              </a:rPr>
              <a:t>Objectives:</a:t>
            </a:r>
            <a:r>
              <a:rPr sz="2000" b="0">
                <a:solidFill>
                  <a:srgbClr val="232D37"/>
                </a:solidFill>
                <a:latin typeface="Times New Roman"/>
              </a:rPr>
              <a:t/>
            </a:r>
          </a:p>
          <a:p>
            <a:pPr lvl="1">
              <a:spcAft>
                <a:spcPts val="800"/>
              </a:spcAft>
            </a:pPr>
            <a:r>
              <a:rPr sz="1800" b="0">
                <a:solidFill>
                  <a:srgbClr val="232D37"/>
                </a:solidFill>
                <a:latin typeface="Times New Roman"/>
              </a:rPr>
              <a:t>Online complaint lodging with category and priority</a:t>
            </a:r>
          </a:p>
          <a:p>
            <a:pPr lvl="1">
              <a:spcAft>
                <a:spcPts val="800"/>
              </a:spcAft>
            </a:pPr>
            <a:r>
              <a:rPr sz="1800" b="0">
                <a:solidFill>
                  <a:srgbClr val="232D37"/>
                </a:solidFill>
                <a:latin typeface="Times New Roman"/>
              </a:rPr>
              <a:t>Role-based access: Student / Staff / Administrator</a:t>
            </a:r>
          </a:p>
          <a:p>
            <a:pPr lvl="1">
              <a:spcAft>
                <a:spcPts val="800"/>
              </a:spcAft>
            </a:pPr>
            <a:r>
              <a:rPr sz="1800" b="0">
                <a:solidFill>
                  <a:srgbClr val="232D37"/>
                </a:solidFill>
                <a:latin typeface="Times New Roman"/>
              </a:rPr>
              <a:t>Life-cycle tracking: PENDING → ASSIGNED → IN_PROGRESS → RESOLVED → CLOSED</a:t>
            </a:r>
          </a:p>
          <a:p>
            <a:pPr lvl="1">
              <a:spcAft>
                <a:spcPts val="800"/>
              </a:spcAft>
            </a:pPr>
            <a:r>
              <a:rPr sz="1800" b="0">
                <a:solidFill>
                  <a:srgbClr val="232D37"/>
                </a:solidFill>
                <a:latin typeface="Times New Roman"/>
              </a:rPr>
              <a:t>Asynchronous notifications using JMS + Message-Driven Bean</a:t>
            </a:r>
          </a:p>
          <a:p>
            <a:pPr lvl="1">
              <a:spcAft>
                <a:spcPts val="800"/>
              </a:spcAft>
            </a:pPr>
            <a:r>
              <a:rPr sz="1800" b="0">
                <a:solidFill>
                  <a:srgbClr val="232D37"/>
                </a:solidFill>
                <a:latin typeface="Times New Roman"/>
              </a:rPr>
              <a:t>Admin analytics and department management</a:t>
            </a:r>
          </a:p>
          <a:p>
            <a:pPr lvl="1">
              <a:spcAft>
                <a:spcPts val="800"/>
              </a:spcAft>
            </a:pPr>
            <a:r>
              <a:rPr sz="1800" b="0">
                <a:solidFill>
                  <a:srgbClr val="232D37"/>
                </a:solidFill>
                <a:latin typeface="Times New Roman"/>
              </a:rPr>
              <a:t>REST/JSON APIs (JAX-RS) with JPA persistence in MySQL</a:t>
            </a:r>
          </a:p>
        </p:txBody>
      </p:sp>
    </p:spTree>
    <p:extLst>
      <p:ext uri="{BB962C8B-B14F-4D97-AF65-F5344CB8AC3E}">
        <p14:creationId xmlns:p14="http://schemas.microsoft.com/office/powerpoint/2010/main" val="1817571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17A29-E4E0-430B-B67A-F1E02C080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50000"/>
            <a:ext cx="10972800" cy="800000"/>
          </a:xfrm>
        </p:spPr>
        <p:txBody>
          <a:bodyPr/>
          <a:lstStyle/>
          <a:p>
            <a:r>
              <a:rPr lang="en-US" sz="3200" b="1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 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09600" y="1250000"/>
          <a:ext cx="10972798" cy="31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1963"/>
                <a:gridCol w="3241963"/>
                <a:gridCol w="4488872"/>
              </a:tblGrid>
              <a:tr h="5200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Times New Roman"/>
                        </a:rPr>
                        <a:t>Existing approach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Times New Roman"/>
                        </a:rPr>
                        <a:t>Strengths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Times New Roman"/>
                        </a:rPr>
                        <a:t>Limitations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32D37"/>
                          </a:solidFill>
                          <a:latin typeface="Times New Roman"/>
                        </a:rPr>
                        <a:t>Paper register / complaint box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32D37"/>
                          </a:solidFill>
                          <a:latin typeface="Times New Roman"/>
                        </a:rPr>
                        <a:t>No technology needed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32D37"/>
                          </a:solidFill>
                          <a:latin typeface="Times New Roman"/>
                        </a:rPr>
                        <a:t>Lost entries; no tracking, priority or analytics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32D37"/>
                          </a:solidFill>
                          <a:latin typeface="Times New Roman"/>
                        </a:rPr>
                        <a:t>Phone / e-mail / WhatsApp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32D37"/>
                          </a:solidFill>
                          <a:latin typeface="Times New Roman"/>
                        </a:rPr>
                        <a:t>Fast and familiar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32D37"/>
                          </a:solidFill>
                          <a:latin typeface="Times New Roman"/>
                        </a:rPr>
                        <a:t>Unstructured; no status, history or accountability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32D37"/>
                          </a:solidFill>
                          <a:latin typeface="Times New Roman"/>
                        </a:rPr>
                        <a:t>Generic helpdesk tools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32D37"/>
                          </a:solidFill>
                          <a:latin typeface="Times New Roman"/>
                        </a:rPr>
                        <a:t>Rich workflow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32D37"/>
                          </a:solidFill>
                          <a:latin typeface="Times New Roman"/>
                        </a:rPr>
                        <a:t>Paid, over-complex, not campus/department specific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32D37"/>
                          </a:solidFill>
                          <a:latin typeface="Times New Roman"/>
                        </a:rPr>
                        <a:t>College ERP grievance module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32D37"/>
                          </a:solidFill>
                          <a:latin typeface="Times New Roman"/>
                        </a:rPr>
                        <a:t>Linked to student data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32D37"/>
                          </a:solidFill>
                          <a:latin typeface="Times New Roman"/>
                        </a:rPr>
                        <a:t>One-way submission; little live tracking; rigid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32D37"/>
                          </a:solidFill>
                          <a:latin typeface="Times New Roman"/>
                        </a:rPr>
                        <a:t>CampusCare (proposed)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32D37"/>
                          </a:solidFill>
                          <a:latin typeface="Times New Roman"/>
                        </a:rPr>
                        <a:t>Transparent, auditable, free, extensible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32D37"/>
                          </a:solidFill>
                          <a:latin typeface="Times New Roman"/>
                        </a:rPr>
                        <a:t>Prototype: no attachments / e-mail / SMS yet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09600" y="4700000"/>
            <a:ext cx="109728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232D37"/>
                </a:solidFill>
                <a:latin typeface="Times New Roman"/>
              </a:rPr>
              <a:t>• Gaps found: </a:t>
            </a:r>
            <a:r>
              <a:rPr sz="1700">
                <a:solidFill>
                  <a:srgbClr val="232D37"/>
                </a:solidFill>
                <a:latin typeface="Times New Roman"/>
              </a:rPr>
              <a:t>no visibility, no accountability, no prioritisation, no analytics, tightly-coupled notifications.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232D37"/>
                </a:solidFill>
                <a:latin typeface="Times New Roman"/>
              </a:rPr>
              <a:t>• Our answer: </a:t>
            </a:r>
            <a:r>
              <a:rPr sz="1700">
                <a:solidFill>
                  <a:srgbClr val="232D37"/>
                </a:solidFill>
                <a:latin typeface="Times New Roman"/>
              </a:rPr>
              <a:t>structured data, enforced workflow, timeline, department routing, dashboards, JMS-based async design.</a:t>
            </a:r>
          </a:p>
        </p:txBody>
      </p:sp>
    </p:spTree>
    <p:extLst>
      <p:ext uri="{BB962C8B-B14F-4D97-AF65-F5344CB8AC3E}">
        <p14:creationId xmlns:p14="http://schemas.microsoft.com/office/powerpoint/2010/main" val="19303674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A77F7-0088-48A7-B16F-B6CDD750F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latin typeface="Book Antiqua" panose="02040602050305030304" pitchFamily="18" charset="0"/>
              </a:rPr>
              <a:t>Feasibility Study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60DD44-DB9B-458B-9D25-3AF642BFD9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b="1" sz="2000">
                <a:solidFill>
                  <a:srgbClr val="232D37"/>
                </a:solidFill>
                <a:latin typeface="Times New Roman"/>
              </a:rPr>
              <a:t>Technical Feasibility</a:t>
            </a:r>
            <a:r>
              <a:rPr sz="2000" b="1">
                <a:solidFill>
                  <a:srgbClr val="232D37"/>
                </a:solidFill>
                <a:latin typeface="Times New Roman"/>
              </a:rPr>
              <a:t/>
            </a:r>
          </a:p>
          <a:p>
            <a:pPr lvl="1">
              <a:spcAft>
                <a:spcPts val="600"/>
              </a:spcAft>
            </a:pPr>
            <a:r>
              <a:rPr sz="1800" b="0">
                <a:solidFill>
                  <a:srgbClr val="232D37"/>
                </a:solidFill>
                <a:latin typeface="Times New Roman"/>
              </a:rPr>
              <a:t>Mature, standard stack: Java 17, Jakarta EE 10, GlassFish 7, MySQL, Maven, NetBeans – all free and well documented</a:t>
            </a:r>
          </a:p>
          <a:p>
            <a:pPr lvl="1">
              <a:spcAft>
                <a:spcPts val="600"/>
              </a:spcAft>
            </a:pPr>
            <a:r>
              <a:rPr sz="1800" b="0">
                <a:solidFill>
                  <a:srgbClr val="232D37"/>
                </a:solidFill>
                <a:latin typeface="Times New Roman"/>
              </a:rPr>
              <a:t>Runs on an ordinary laptop; verified end-to-end (API responses about 3–35 ms locally)</a:t>
            </a:r>
          </a:p>
          <a:p>
            <a:pPr>
              <a:spcAft>
                <a:spcPts val="600"/>
              </a:spcAft>
            </a:pPr>
            <a:r>
              <a:rPr b="1" sz="2000">
                <a:solidFill>
                  <a:srgbClr val="232D37"/>
                </a:solidFill>
                <a:latin typeface="Times New Roman"/>
              </a:rPr>
              <a:t>Financial / Business</a:t>
            </a:r>
            <a:r>
              <a:rPr sz="2000" b="1">
                <a:solidFill>
                  <a:srgbClr val="232D37"/>
                </a:solidFill>
                <a:latin typeface="Times New Roman"/>
              </a:rPr>
              <a:t/>
            </a:r>
          </a:p>
          <a:p>
            <a:pPr lvl="1">
              <a:spcAft>
                <a:spcPts val="600"/>
              </a:spcAft>
            </a:pPr>
            <a:r>
              <a:rPr sz="1800" b="0">
                <a:solidFill>
                  <a:srgbClr val="232D37"/>
                </a:solidFill>
                <a:latin typeface="Times New Roman"/>
              </a:rPr>
              <a:t>Zero licence cost (open-source stack); only hosting needed for production</a:t>
            </a:r>
          </a:p>
          <a:p>
            <a:pPr lvl="1">
              <a:spcAft>
                <a:spcPts val="600"/>
              </a:spcAft>
            </a:pPr>
            <a:r>
              <a:rPr sz="1800" b="0">
                <a:solidFill>
                  <a:srgbClr val="232D37"/>
                </a:solidFill>
                <a:latin typeface="Times New Roman"/>
              </a:rPr>
              <a:t>Saves staff time and gives management analytics to prioritise maintenance spending</a:t>
            </a:r>
          </a:p>
          <a:p>
            <a:pPr>
              <a:spcAft>
                <a:spcPts val="600"/>
              </a:spcAft>
            </a:pPr>
            <a:r>
              <a:rPr b="1" sz="2000">
                <a:solidFill>
                  <a:srgbClr val="232D37"/>
                </a:solidFill>
                <a:latin typeface="Times New Roman"/>
              </a:rPr>
              <a:t>Operational Feasibility</a:t>
            </a:r>
            <a:r>
              <a:rPr sz="2000" b="1">
                <a:solidFill>
                  <a:srgbClr val="232D37"/>
                </a:solidFill>
                <a:latin typeface="Times New Roman"/>
              </a:rPr>
              <a:t/>
            </a:r>
          </a:p>
          <a:p>
            <a:pPr lvl="1">
              <a:spcAft>
                <a:spcPts val="600"/>
              </a:spcAft>
            </a:pPr>
            <a:r>
              <a:rPr sz="1800" b="0">
                <a:solidFill>
                  <a:srgbClr val="232D37"/>
                </a:solidFill>
                <a:latin typeface="Times New Roman"/>
              </a:rPr>
              <a:t>Simple SPA UI with one-click demo login; no training needed for students</a:t>
            </a:r>
          </a:p>
          <a:p>
            <a:pPr lvl="1">
              <a:spcAft>
                <a:spcPts val="600"/>
              </a:spcAft>
            </a:pPr>
            <a:r>
              <a:rPr sz="1800" b="0">
                <a:solidFill>
                  <a:srgbClr val="232D37"/>
                </a:solidFill>
                <a:latin typeface="Times New Roman"/>
              </a:rPr>
              <a:t>Fits existing roles: students, maintenance staff, administration</a:t>
            </a:r>
          </a:p>
        </p:txBody>
      </p:sp>
    </p:spTree>
    <p:extLst>
      <p:ext uri="{BB962C8B-B14F-4D97-AF65-F5344CB8AC3E}">
        <p14:creationId xmlns:p14="http://schemas.microsoft.com/office/powerpoint/2010/main" val="11519875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088AD-B1BC-4643-B1DF-6F3D0D7D1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20000"/>
            <a:ext cx="10972800" cy="700000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 &amp; Architecture </a:t>
            </a:r>
          </a:p>
        </p:txBody>
      </p:sp>
      <p:pic>
        <p:nvPicPr>
          <p:cNvPr id="3" name="Picture 2" descr="01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024" y="900000"/>
            <a:ext cx="5185950" cy="57000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5900000" y="1100000"/>
            <a:ext cx="5900000" cy="5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1">
                <a:solidFill>
                  <a:srgbClr val="232D37"/>
                </a:solidFill>
                <a:latin typeface="Times New Roman"/>
              </a:rPr>
              <a:t>• Presentation: </a:t>
            </a:r>
            <a:r>
              <a:rPr sz="1900">
                <a:solidFill>
                  <a:srgbClr val="232D37"/>
                </a:solidFill>
                <a:latin typeface="Times New Roman"/>
              </a:rPr>
              <a:t>HTML5/CSS3/JS single-page app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232D37"/>
                </a:solidFill>
                <a:latin typeface="Times New Roman"/>
              </a:rPr>
              <a:t>• REST tier: </a:t>
            </a:r>
            <a:r>
              <a:rPr sz="1900">
                <a:solidFill>
                  <a:srgbClr val="232D37"/>
                </a:solidFill>
                <a:latin typeface="Times New Roman"/>
              </a:rPr>
              <a:t>JAX-RS resources under /CampusCare/api (JSON)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232D37"/>
                </a:solidFill>
                <a:latin typeface="Times New Roman"/>
              </a:rPr>
              <a:t>• Business tier: </a:t>
            </a:r>
            <a:r>
              <a:rPr sz="1900">
                <a:solidFill>
                  <a:srgbClr val="232D37"/>
                </a:solidFill>
                <a:latin typeface="Times New Roman"/>
              </a:rPr>
              <a:t>Stateless EJBs + CDI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232D37"/>
                </a:solidFill>
                <a:latin typeface="Times New Roman"/>
              </a:rPr>
              <a:t>• Persistence: </a:t>
            </a:r>
            <a:r>
              <a:rPr sz="1900">
                <a:solidFill>
                  <a:srgbClr val="232D37"/>
                </a:solidFill>
                <a:latin typeface="Times New Roman"/>
              </a:rPr>
              <a:t>JPA / EclipseLink, JTA datasource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232D37"/>
                </a:solidFill>
                <a:latin typeface="Times New Roman"/>
              </a:rPr>
              <a:t>• Messaging: </a:t>
            </a:r>
            <a:r>
              <a:rPr sz="1900">
                <a:solidFill>
                  <a:srgbClr val="232D37"/>
                </a:solidFill>
                <a:latin typeface="Times New Roman"/>
              </a:rPr>
              <a:t>JMS queue → Message-Driven Bean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232D37"/>
                </a:solidFill>
                <a:latin typeface="Times New Roman"/>
              </a:rPr>
              <a:t>• Data tier: </a:t>
            </a:r>
            <a:r>
              <a:rPr sz="1900">
                <a:solidFill>
                  <a:srgbClr val="232D37"/>
                </a:solidFill>
                <a:latin typeface="Times New Roman"/>
              </a:rPr>
              <a:t>MySQL database campuscare (7 tables)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232D37"/>
                </a:solidFill>
                <a:latin typeface="Times New Roman"/>
              </a:rPr>
              <a:t>• Security: </a:t>
            </a:r>
            <a:r>
              <a:rPr sz="1900">
                <a:solidFill>
                  <a:srgbClr val="232D37"/>
                </a:solidFill>
                <a:latin typeface="Times New Roman"/>
              </a:rPr>
              <a:t>PBKDF2 passwords, HMAC-SHA256 tokens, role checks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232D37"/>
                </a:solidFill>
                <a:latin typeface="Times New Roman"/>
              </a:rPr>
              <a:t>• Deployment: </a:t>
            </a:r>
            <a:r>
              <a:rPr sz="1900">
                <a:solidFill>
                  <a:srgbClr val="232D37"/>
                </a:solidFill>
                <a:latin typeface="Times New Roman"/>
              </a:rPr>
              <a:t>CampusCare.war on GlassFish 7.0.18</a:t>
            </a:r>
          </a:p>
        </p:txBody>
      </p:sp>
    </p:spTree>
    <p:extLst>
      <p:ext uri="{BB962C8B-B14F-4D97-AF65-F5344CB8AC3E}">
        <p14:creationId xmlns:p14="http://schemas.microsoft.com/office/powerpoint/2010/main" val="33273165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3B29D-9EA5-4042-BC61-D443DE878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50000"/>
            <a:ext cx="10972800" cy="800000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Technology &amp; Tools Used 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09600" y="1250000"/>
          <a:ext cx="10972799" cy="4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2581"/>
                <a:gridCol w="7980218"/>
              </a:tblGrid>
              <a:tr h="4800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</a:rPr>
                        <a:t>Layer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</a:rPr>
                        <a:t>Technology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</a:tr>
              <a:tr h="48000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32D37"/>
                          </a:solidFill>
                          <a:latin typeface="Times New Roman"/>
                        </a:rPr>
                        <a:t>Language / Platform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32D37"/>
                          </a:solidFill>
                          <a:latin typeface="Times New Roman"/>
                        </a:rPr>
                        <a:t>Java 17, Jakarta EE 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000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32D37"/>
                          </a:solidFill>
                          <a:latin typeface="Times New Roman"/>
                        </a:rPr>
                        <a:t>Application server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32D37"/>
                          </a:solidFill>
                          <a:latin typeface="Times New Roman"/>
                        </a:rPr>
                        <a:t>Eclipse GlassFish 7.0.18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8000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32D37"/>
                          </a:solidFill>
                          <a:latin typeface="Times New Roman"/>
                        </a:rPr>
                        <a:t>Business logic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32D37"/>
                          </a:solidFill>
                          <a:latin typeface="Times New Roman"/>
                        </a:rPr>
                        <a:t>EJB 4.0 (@Stateless, @Singleton @Startup), CDI 4.0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000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32D37"/>
                          </a:solidFill>
                          <a:latin typeface="Times New Roman"/>
                        </a:rPr>
                        <a:t>Persistence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32D37"/>
                          </a:solidFill>
                          <a:latin typeface="Times New Roman"/>
                        </a:rPr>
                        <a:t>JPA 3.1 (EclipseLink), Bean Validation 3.0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8000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32D37"/>
                          </a:solidFill>
                          <a:latin typeface="Times New Roman"/>
                        </a:rPr>
                        <a:t>REST API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32D37"/>
                          </a:solidFill>
                          <a:latin typeface="Times New Roman"/>
                        </a:rPr>
                        <a:t>JAX-RS 3.1 (JSON)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000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32D37"/>
                          </a:solidFill>
                          <a:latin typeface="Times New Roman"/>
                        </a:rPr>
                        <a:t>Messaging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32D37"/>
                          </a:solidFill>
                          <a:latin typeface="Times New Roman"/>
                        </a:rPr>
                        <a:t>JMS 3.1 (OpenMQ), @MessageDriven bean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8000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32D37"/>
                          </a:solidFill>
                          <a:latin typeface="Times New Roman"/>
                        </a:rPr>
                        <a:t>Database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32D37"/>
                          </a:solidFill>
                          <a:latin typeface="Times New Roman"/>
                        </a:rPr>
                        <a:t>MySQL (utf8mb4), Connector/J 8.3.0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000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32D37"/>
                          </a:solidFill>
                          <a:latin typeface="Times New Roman"/>
                        </a:rPr>
                        <a:t>Front-end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32D37"/>
                          </a:solidFill>
                          <a:latin typeface="Times New Roman"/>
                        </a:rPr>
                        <a:t>HTML5, CSS3, vanilla JavaScript SPA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8000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32D37"/>
                          </a:solidFill>
                          <a:latin typeface="Times New Roman"/>
                        </a:rPr>
                        <a:t>Build / IDE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32D37"/>
                          </a:solidFill>
                          <a:latin typeface="Times New Roman"/>
                        </a:rPr>
                        <a:t>Apache Maven, Apache NetBeans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48080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541C1-0906-95C4-F18B-D1D2E80B8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0648"/>
            <a:ext cx="10972800" cy="1143000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&amp; Results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9D134E-EA61-2360-8B8A-F171E29D3A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6613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8D940-E456-4083-912A-0FEBF8D72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latin typeface="Book Antiqua" panose="02040602050305030304" pitchFamily="18" charset="0"/>
              </a:rPr>
              <a:t>Conclusion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CDA3A2B-6D03-4D04-9D87-415BE72FBE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</a:pPr>
            <a:r>
              <a:rPr b="1" sz="2000">
                <a:solidFill>
                  <a:srgbClr val="232D37"/>
                </a:solidFill>
                <a:latin typeface="Times New Roman"/>
              </a:rPr>
              <a:t>Achieved: </a:t>
            </a:r>
            <a:r>
              <a:rPr sz="2000" b="0">
                <a:solidFill>
                  <a:srgbClr val="232D37"/>
                </a:solidFill>
                <a:latin typeface="Times New Roman"/>
              </a:rPr>
              <a:t>a working, secure, role-based complaint management system on Jakarta EE (EJB, JPA, JAX-RS, CDI, JMS, MDB) with MySQL.</a:t>
            </a:r>
            <a:endParaRPr lang="en-US"/>
          </a:p>
          <a:p>
            <a:pPr>
              <a:spcAft>
                <a:spcPts val="1200"/>
              </a:spcAft>
            </a:pPr>
            <a:r>
              <a:rPr b="1" sz="2000">
                <a:solidFill>
                  <a:srgbClr val="232D37"/>
                </a:solidFill>
                <a:latin typeface="Times New Roman"/>
              </a:rPr>
              <a:t>Impact: </a:t>
            </a:r>
            <a:r>
              <a:rPr sz="2000" b="0">
                <a:solidFill>
                  <a:srgbClr val="232D37"/>
                </a:solidFill>
                <a:latin typeface="Times New Roman"/>
              </a:rPr>
              <a:t>transparent complaint tracking, accountable staff assignment and admin analytics.</a:t>
            </a:r>
          </a:p>
          <a:p>
            <a:pPr>
              <a:spcAft>
                <a:spcPts val="1200"/>
              </a:spcAft>
            </a:pPr>
            <a:r>
              <a:rPr b="1" sz="2000">
                <a:solidFill>
                  <a:srgbClr val="232D37"/>
                </a:solidFill>
                <a:latin typeface="Times New Roman"/>
              </a:rPr>
              <a:t>Limitations: </a:t>
            </a:r>
            <a:r>
              <a:rPr sz="2000" b="0">
                <a:solidFill>
                  <a:srgbClr val="232D37"/>
                </a:solidFill>
                <a:latin typeface="Times New Roman"/>
              </a:rPr>
              <a:t>no attachments; in-app notifications only; secrets in config; complaint delete needs a fix.</a:t>
            </a:r>
          </a:p>
          <a:p>
            <a:pPr>
              <a:spcAft>
                <a:spcPts val="1200"/>
              </a:spcAft>
            </a:pPr>
            <a:r>
              <a:rPr b="1" sz="2000">
                <a:solidFill>
                  <a:srgbClr val="232D37"/>
                </a:solidFill>
                <a:latin typeface="Times New Roman"/>
              </a:rPr>
              <a:t>Future scope: </a:t>
            </a:r>
            <a:r>
              <a:rPr sz="2000" b="0">
                <a:solidFill>
                  <a:srgbClr val="232D37"/>
                </a:solidFill>
                <a:latin typeface="Times New Roman"/>
              </a:rPr>
              <a:t>file/photo upload, e-mail/SMS/WebSocket alerts, SLA timers &amp; escalation, feedback ratings, report export, mobile app.</a:t>
            </a:r>
          </a:p>
        </p:txBody>
      </p:sp>
    </p:spTree>
    <p:extLst>
      <p:ext uri="{BB962C8B-B14F-4D97-AF65-F5344CB8AC3E}">
        <p14:creationId xmlns:p14="http://schemas.microsoft.com/office/powerpoint/2010/main" val="40533518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859A8-4301-4C8E-80D1-086242B73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/>
            <a:r>
              <a:rPr lang="en-US" sz="3200" b="1" dirty="0">
                <a:latin typeface="Book Antiqua" panose="02040602050305030304" pitchFamily="18" charset="0"/>
              </a:rPr>
              <a:t>References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35AD439-A3E7-7E4A-128B-AA8CF1C27A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232D37"/>
                </a:solidFill>
                <a:latin typeface="Times New Roman"/>
              </a:rPr>
              <a:t>Eclipse Foundation, Jakarta EE 10 Platform Specification – jakarta.ee/specifications/platform/10</a:t>
            </a:r>
            <a:endParaRPr lang="en-US" dirty="0"/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32D37"/>
                </a:solidFill>
                <a:latin typeface="Times New Roman"/>
              </a:rPr>
              <a:t>Eclipse GlassFish 7 Documentation – glassfish.org/docs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32D37"/>
                </a:solidFill>
                <a:latin typeface="Times New Roman"/>
              </a:rPr>
              <a:t>EclipseLink JPA Documentation – eclipse.dev/eclipselink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32D37"/>
                </a:solidFill>
                <a:latin typeface="Times New Roman"/>
              </a:rPr>
              <a:t>Jakarta EE Tutorial – eclipse-ee4j.github.io/jakartaee-tutorial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32D37"/>
                </a:solidFill>
                <a:latin typeface="Times New Roman"/>
              </a:rPr>
              <a:t>Oracle, MySQL Reference Manual – dev.mysql.com/doc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32D37"/>
                </a:solidFill>
                <a:latin typeface="Times New Roman"/>
              </a:rPr>
              <a:t>RFC 2898 (PBKDF2) and RFC 2104 (HMAC), IETF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32D37"/>
                </a:solidFill>
                <a:latin typeface="Times New Roman"/>
              </a:rPr>
              <a:t>OWASP Password Storage Cheat Sheet – cheatsheetseries.owasp.org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32D37"/>
                </a:solidFill>
                <a:latin typeface="Times New Roman"/>
              </a:rPr>
              <a:t>Apache Maven and Apache NetBeans documentation</a:t>
            </a:r>
          </a:p>
        </p:txBody>
      </p:sp>
    </p:spTree>
    <p:extLst>
      <p:ext uri="{BB962C8B-B14F-4D97-AF65-F5344CB8AC3E}">
        <p14:creationId xmlns:p14="http://schemas.microsoft.com/office/powerpoint/2010/main" val="940399193"/>
      </p:ext>
    </p:extLst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20000"/>
            <a:ext cx="10972800" cy="700000"/>
          </a:xfrm>
        </p:spPr>
        <p:txBody>
          <a:bodyPr/>
          <a:lstStyle/>
          <a:p>
            <a:pPr algn="l"/>
            <a:r>
              <a:rPr b="1" sz="2800">
                <a:solidFill>
                  <a:srgbClr val="232D37"/>
                </a:solidFill>
                <a:latin typeface="Times New Roman"/>
              </a:rPr>
              <a:t>Use Cases &amp; Data Flow</a:t>
            </a:r>
          </a:p>
        </p:txBody>
      </p:sp>
      <p:pic>
        <p:nvPicPr>
          <p:cNvPr id="3" name="Picture 2" descr="03_use_c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000" y="900000"/>
            <a:ext cx="5400000" cy="4791908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300000" y="5731908"/>
            <a:ext cx="54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i="1">
                <a:solidFill>
                  <a:srgbClr val="475569"/>
                </a:solidFill>
                <a:latin typeface="Times New Roman"/>
              </a:rPr>
              <a:t>Use case diagram</a:t>
            </a:r>
          </a:p>
        </p:txBody>
      </p:sp>
      <p:pic>
        <p:nvPicPr>
          <p:cNvPr id="5" name="Picture 4" descr="07_dfd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0000" y="1500000"/>
            <a:ext cx="5900000" cy="3779501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000000" y="5319501"/>
            <a:ext cx="59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i="1">
                <a:solidFill>
                  <a:srgbClr val="475569"/>
                </a:solidFill>
                <a:latin typeface="Times New Roman"/>
              </a:rPr>
              <a:t>DFD level 0 (context)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20000"/>
            <a:ext cx="10972800" cy="700000"/>
          </a:xfrm>
        </p:spPr>
        <p:txBody>
          <a:bodyPr/>
          <a:lstStyle/>
          <a:p>
            <a:pPr algn="l"/>
            <a:r>
              <a:rPr b="1" sz="2800">
                <a:solidFill>
                  <a:srgbClr val="232D37"/>
                </a:solidFill>
                <a:latin typeface="Times New Roman"/>
              </a:rPr>
              <a:t>Database Design (ER Diagram)</a:t>
            </a:r>
          </a:p>
        </p:txBody>
      </p:sp>
      <p:pic>
        <p:nvPicPr>
          <p:cNvPr id="3" name="Picture 2" descr="02_er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303" y="850000"/>
            <a:ext cx="6473393" cy="58000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300000" y="6690000"/>
            <a:ext cx="76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i="1">
                <a:solidFill>
                  <a:srgbClr val="475569"/>
                </a:solidFill>
                <a:latin typeface="Times New Roman"/>
              </a:rPr>
              <a:t>Entity relationship diagram – 7 JPA entities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1300000"/>
            <a:ext cx="39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232D37"/>
                </a:solidFill>
                <a:latin typeface="Times New Roman"/>
              </a:rPr>
              <a:t>• </a:t>
            </a:r>
            <a:r>
              <a:rPr sz="1700">
                <a:solidFill>
                  <a:srgbClr val="232D37"/>
                </a:solidFill>
                <a:latin typeface="Times New Roman"/>
              </a:rPr>
              <a:t>User 1:1 Student or Staff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32D37"/>
                </a:solidFill>
                <a:latin typeface="Times New Roman"/>
              </a:rPr>
              <a:t>• </a:t>
            </a:r>
            <a:r>
              <a:rPr sz="1700">
                <a:solidFill>
                  <a:srgbClr val="232D37"/>
                </a:solidFill>
                <a:latin typeface="Times New Roman"/>
              </a:rPr>
              <a:t>Department 1:* Staff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32D37"/>
                </a:solidFill>
                <a:latin typeface="Times New Roman"/>
              </a:rPr>
              <a:t>• </a:t>
            </a:r>
            <a:r>
              <a:rPr sz="1700">
                <a:solidFill>
                  <a:srgbClr val="232D37"/>
                </a:solidFill>
                <a:latin typeface="Times New Roman"/>
              </a:rPr>
              <a:t>Department 1:* Complaint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32D37"/>
                </a:solidFill>
                <a:latin typeface="Times New Roman"/>
              </a:rPr>
              <a:t>• </a:t>
            </a:r>
            <a:r>
              <a:rPr sz="1700">
                <a:solidFill>
                  <a:srgbClr val="232D37"/>
                </a:solidFill>
                <a:latin typeface="Times New Roman"/>
              </a:rPr>
              <a:t>Student 1:* Complaint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32D37"/>
                </a:solidFill>
                <a:latin typeface="Times New Roman"/>
              </a:rPr>
              <a:t>• </a:t>
            </a:r>
            <a:r>
              <a:rPr sz="1700">
                <a:solidFill>
                  <a:srgbClr val="232D37"/>
                </a:solidFill>
                <a:latin typeface="Times New Roman"/>
              </a:rPr>
              <a:t>Staff 1:* Complaint (assigned)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32D37"/>
                </a:solidFill>
                <a:latin typeface="Times New Roman"/>
              </a:rPr>
              <a:t>• </a:t>
            </a:r>
            <a:r>
              <a:rPr sz="1700">
                <a:solidFill>
                  <a:srgbClr val="232D37"/>
                </a:solidFill>
                <a:latin typeface="Times New Roman"/>
              </a:rPr>
              <a:t>Complaint 1:* ComplaintUpdate (timeline)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32D37"/>
                </a:solidFill>
                <a:latin typeface="Times New Roman"/>
              </a:rPr>
              <a:t>• </a:t>
            </a:r>
            <a:r>
              <a:rPr sz="1700">
                <a:solidFill>
                  <a:srgbClr val="232D37"/>
                </a:solidFill>
                <a:latin typeface="Times New Roman"/>
              </a:rPr>
              <a:t>User 1:* Notification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20000"/>
            <a:ext cx="10972800" cy="700000"/>
          </a:xfrm>
        </p:spPr>
        <p:txBody>
          <a:bodyPr/>
          <a:lstStyle/>
          <a:p>
            <a:pPr algn="l"/>
            <a:r>
              <a:rPr b="1" sz="2800">
                <a:solidFill>
                  <a:srgbClr val="232D37"/>
                </a:solidFill>
                <a:latin typeface="Times New Roman"/>
              </a:rPr>
              <a:t>Flowchart &amp; Complaint Life Cycle</a:t>
            </a:r>
          </a:p>
        </p:txBody>
      </p:sp>
      <p:pic>
        <p:nvPicPr>
          <p:cNvPr id="3" name="Picture 2" descr="05_system_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000" y="850000"/>
            <a:ext cx="3900000" cy="5386676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300000" y="6276676"/>
            <a:ext cx="39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i="1">
                <a:solidFill>
                  <a:srgbClr val="475569"/>
                </a:solidFill>
                <a:latin typeface="Times New Roman"/>
              </a:rPr>
              <a:t>System flowchart</a:t>
            </a:r>
          </a:p>
        </p:txBody>
      </p:sp>
      <p:pic>
        <p:nvPicPr>
          <p:cNvPr id="5" name="Picture 4" descr="04_lifecy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8401" y="1000000"/>
            <a:ext cx="6103197" cy="26000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4400000" y="3640000"/>
            <a:ext cx="75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i="1">
                <a:solidFill>
                  <a:srgbClr val="475569"/>
                </a:solidFill>
                <a:latin typeface="Times New Roman"/>
              </a:rPr>
              <a:t>Complaint life cycle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00000" y="3900000"/>
            <a:ext cx="7300000" cy="2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232D37"/>
                </a:solidFill>
                <a:latin typeface="Times New Roman"/>
              </a:rPr>
              <a:t>• </a:t>
            </a:r>
            <a:r>
              <a:rPr sz="1700">
                <a:solidFill>
                  <a:srgbClr val="232D37"/>
                </a:solidFill>
                <a:latin typeface="Times New Roman"/>
              </a:rPr>
              <a:t>Student can only close RESOLVED complaints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32D37"/>
                </a:solidFill>
                <a:latin typeface="Times New Roman"/>
              </a:rPr>
              <a:t>• </a:t>
            </a:r>
            <a:r>
              <a:rPr sz="1700">
                <a:solidFill>
                  <a:srgbClr val="232D37"/>
                </a:solidFill>
                <a:latin typeface="Times New Roman"/>
              </a:rPr>
              <a:t>Staff: ASSIGNED → IN_PROGRESS → RESOLVED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32D37"/>
                </a:solidFill>
                <a:latin typeface="Times New Roman"/>
              </a:rPr>
              <a:t>• </a:t>
            </a:r>
            <a:r>
              <a:rPr sz="1700">
                <a:solidFill>
                  <a:srgbClr val="232D37"/>
                </a:solidFill>
                <a:latin typeface="Times New Roman"/>
              </a:rPr>
              <a:t>Admin can manage any transition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32D37"/>
                </a:solidFill>
                <a:latin typeface="Times New Roman"/>
              </a:rPr>
              <a:t>• </a:t>
            </a:r>
            <a:r>
              <a:rPr sz="1700">
                <a:solidFill>
                  <a:srgbClr val="232D37"/>
                </a:solidFill>
                <a:latin typeface="Times New Roman"/>
              </a:rPr>
              <a:t>Every change adds a timeline row + notification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20000"/>
            <a:ext cx="10972800" cy="700000"/>
          </a:xfrm>
        </p:spPr>
        <p:txBody>
          <a:bodyPr/>
          <a:lstStyle/>
          <a:p>
            <a:pPr algn="l"/>
            <a:r>
              <a:rPr b="1" sz="2800">
                <a:solidFill>
                  <a:srgbClr val="232D37"/>
                </a:solidFill>
                <a:latin typeface="Times New Roman"/>
              </a:rPr>
              <a:t>Asynchronous JMS Notification Flow</a:t>
            </a:r>
          </a:p>
        </p:txBody>
      </p:sp>
      <p:pic>
        <p:nvPicPr>
          <p:cNvPr id="3" name="Picture 2" descr="06_sequence_j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4348" y="900000"/>
            <a:ext cx="7851303" cy="56000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500000" y="6540000"/>
            <a:ext cx="1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i="1">
                <a:solidFill>
                  <a:srgbClr val="475569"/>
                </a:solidFill>
                <a:latin typeface="Times New Roman"/>
              </a:rPr>
              <a:t>Sequence: lodge complaint → JMS queue → MDB → notification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20000"/>
            <a:ext cx="10972800" cy="800000"/>
          </a:xfrm>
        </p:spPr>
        <p:txBody>
          <a:bodyPr/>
          <a:lstStyle/>
          <a:p>
            <a:pPr algn="l"/>
            <a:r>
              <a:rPr b="1" sz="2800">
                <a:solidFill>
                  <a:srgbClr val="232D37"/>
                </a:solidFill>
                <a:latin typeface="Times New Roman"/>
              </a:rPr>
              <a:t>Implementation – Modules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09600" y="1050000"/>
          <a:ext cx="10972799" cy="51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1862"/>
                <a:gridCol w="4288220"/>
                <a:gridCol w="4792717"/>
              </a:tblGrid>
              <a:tr h="6400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Module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Key classes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What it does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</a:tr>
              <a:tr h="6400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D37"/>
                          </a:solidFill>
                          <a:latin typeface="Times New Roman"/>
                        </a:rPr>
                        <a:t>Security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D37"/>
                          </a:solidFill>
                          <a:latin typeface="Times New Roman"/>
                        </a:rPr>
                        <a:t>AuthResource, UserServiceBean, PasswordUtil, TokenUtil, AuthContext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D37"/>
                          </a:solidFill>
                          <a:latin typeface="Times New Roman"/>
                        </a:rPr>
                        <a:t>Login/register, PBKDF2 hashing, signed 24 h tokens, role checks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400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D37"/>
                          </a:solidFill>
                          <a:latin typeface="Times New Roman"/>
                        </a:rPr>
                        <a:t>Complaints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D37"/>
                          </a:solidFill>
                          <a:latin typeface="Times New Roman"/>
                        </a:rPr>
                        <a:t>ComplaintResource, ComplaintServiceBean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D37"/>
                          </a:solidFill>
                          <a:latin typeface="Times New Roman"/>
                        </a:rPr>
                        <a:t>Create, filter, assign, update, transition rules, timeline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6400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D37"/>
                          </a:solidFill>
                          <a:latin typeface="Times New Roman"/>
                        </a:rPr>
                        <a:t>Departments / Users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D37"/>
                          </a:solidFill>
                          <a:latin typeface="Times New Roman"/>
                        </a:rPr>
                        <a:t>DepartmentServiceBean, Staff/Student resources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D37"/>
                          </a:solidFill>
                          <a:latin typeface="Times New Roman"/>
                        </a:rPr>
                        <a:t>Departments, staff and student directories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400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D37"/>
                          </a:solidFill>
                          <a:latin typeface="Times New Roman"/>
                        </a:rPr>
                        <a:t>Notifications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D37"/>
                          </a:solidFill>
                          <a:latin typeface="Times New Roman"/>
                        </a:rPr>
                        <a:t>ComplaintJmsProducer, ComplaintNotificationMDB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D37"/>
                          </a:solidFill>
                          <a:latin typeface="Times New Roman"/>
                        </a:rPr>
                        <a:t>Queue events and persist notifications asynchronously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6400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D37"/>
                          </a:solidFill>
                          <a:latin typeface="Times New Roman"/>
                        </a:rPr>
                        <a:t>Dashboard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D37"/>
                          </a:solidFill>
                          <a:latin typeface="Times New Roman"/>
                        </a:rPr>
                        <a:t>DashboardServiceBean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D37"/>
                          </a:solidFill>
                          <a:latin typeface="Times New Roman"/>
                        </a:rPr>
                        <a:t>JPQL aggregates by status, category, priority, department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400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D37"/>
                          </a:solidFill>
                          <a:latin typeface="Times New Roman"/>
                        </a:rPr>
                        <a:t>Start-up seed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D37"/>
                          </a:solidFill>
                          <a:latin typeface="Times New Roman"/>
                        </a:rPr>
                        <a:t>DataInitializer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D37"/>
                          </a:solidFill>
                          <a:latin typeface="Times New Roman"/>
                        </a:rPr>
                        <a:t>Seeds departments, demo users and sample complaints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6400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D37"/>
                          </a:solidFill>
                          <a:latin typeface="Times New Roman"/>
                        </a:rPr>
                        <a:t>Front-end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D37"/>
                          </a:solidFill>
                          <a:latin typeface="Times New Roman"/>
                        </a:rPr>
                        <a:t>index.html, api.js, app.js (~1,480 lines)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D37"/>
                          </a:solidFill>
                          <a:latin typeface="Times New Roman"/>
                        </a:rPr>
                        <a:t>SPA views, modals, filters, timeline, notification bell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20000"/>
            <a:ext cx="10972800" cy="700000"/>
          </a:xfrm>
        </p:spPr>
        <p:txBody>
          <a:bodyPr/>
          <a:lstStyle/>
          <a:p>
            <a:pPr algn="l"/>
            <a:r>
              <a:rPr b="1" sz="2800">
                <a:solidFill>
                  <a:srgbClr val="232D37"/>
                </a:solidFill>
                <a:latin typeface="Times New Roman"/>
              </a:rPr>
              <a:t>Results – Login &amp; Registration</a:t>
            </a:r>
          </a:p>
        </p:txBody>
      </p:sp>
      <p:pic>
        <p:nvPicPr>
          <p:cNvPr id="3" name="Picture 2" descr="01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000" y="1150000"/>
            <a:ext cx="5700000" cy="2998312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300000" y="4188312"/>
            <a:ext cx="57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i="1">
                <a:solidFill>
                  <a:srgbClr val="475569"/>
                </a:solidFill>
                <a:latin typeface="Times New Roman"/>
              </a:rPr>
              <a:t>Login page with Quick Demo buttons</a:t>
            </a:r>
          </a:p>
        </p:txBody>
      </p:sp>
      <p:pic>
        <p:nvPicPr>
          <p:cNvPr id="5" name="Picture 4" descr="02_regis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0000" y="1150000"/>
            <a:ext cx="5700000" cy="2998312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200000" y="4188312"/>
            <a:ext cx="57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i="1">
                <a:solidFill>
                  <a:srgbClr val="475569"/>
                </a:solidFill>
                <a:latin typeface="Times New Roman"/>
              </a:rPr>
              <a:t>Student registration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20000"/>
            <a:ext cx="10972800" cy="700000"/>
          </a:xfrm>
        </p:spPr>
        <p:txBody>
          <a:bodyPr/>
          <a:lstStyle/>
          <a:p>
            <a:pPr algn="l"/>
            <a:r>
              <a:rPr b="1" sz="2800">
                <a:solidFill>
                  <a:srgbClr val="232D37"/>
                </a:solidFill>
                <a:latin typeface="Times New Roman"/>
              </a:rPr>
              <a:t>Results – Student Portal (1)</a:t>
            </a:r>
          </a:p>
        </p:txBody>
      </p:sp>
      <p:pic>
        <p:nvPicPr>
          <p:cNvPr id="3" name="Picture 2" descr="04_student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704" y="1150000"/>
            <a:ext cx="5494590" cy="50000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300000" y="6190000"/>
            <a:ext cx="57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i="1">
                <a:solidFill>
                  <a:srgbClr val="475569"/>
                </a:solidFill>
                <a:latin typeface="Times New Roman"/>
              </a:rPr>
              <a:t>Student dashboard</a:t>
            </a:r>
          </a:p>
        </p:txBody>
      </p:sp>
      <p:pic>
        <p:nvPicPr>
          <p:cNvPr id="5" name="Picture 4" descr="05_submit_complai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0000" y="1150000"/>
            <a:ext cx="5700000" cy="3635654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200000" y="4825654"/>
            <a:ext cx="57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i="1">
                <a:solidFill>
                  <a:srgbClr val="475569"/>
                </a:solidFill>
                <a:latin typeface="Times New Roman"/>
              </a:rPr>
              <a:t>Lodge complaint form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20000"/>
            <a:ext cx="10972800" cy="700000"/>
          </a:xfrm>
        </p:spPr>
        <p:txBody>
          <a:bodyPr/>
          <a:lstStyle/>
          <a:p>
            <a:pPr algn="l"/>
            <a:r>
              <a:rPr b="1" sz="2800">
                <a:solidFill>
                  <a:srgbClr val="232D37"/>
                </a:solidFill>
                <a:latin typeface="Times New Roman"/>
              </a:rPr>
              <a:t>Results – Student Portal (2)</a:t>
            </a:r>
          </a:p>
        </p:txBody>
      </p:sp>
      <p:pic>
        <p:nvPicPr>
          <p:cNvPr id="3" name="Picture 2" descr="07_complaint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065" y="1150000"/>
            <a:ext cx="5035868" cy="50000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300000" y="6190000"/>
            <a:ext cx="57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i="1">
                <a:solidFill>
                  <a:srgbClr val="475569"/>
                </a:solidFill>
                <a:latin typeface="Times New Roman"/>
              </a:rPr>
              <a:t>Complaint details with life-cycle timeline</a:t>
            </a:r>
          </a:p>
        </p:txBody>
      </p:sp>
      <p:pic>
        <p:nvPicPr>
          <p:cNvPr id="5" name="Picture 4" descr="08_notifica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0000" y="1150000"/>
            <a:ext cx="5700000" cy="2998312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200000" y="4188312"/>
            <a:ext cx="57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i="1">
                <a:solidFill>
                  <a:srgbClr val="475569"/>
                </a:solidFill>
                <a:latin typeface="Times New Roman"/>
              </a:rPr>
              <a:t>JMS-driven notifications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20000"/>
            <a:ext cx="10972800" cy="700000"/>
          </a:xfrm>
        </p:spPr>
        <p:txBody>
          <a:bodyPr/>
          <a:lstStyle/>
          <a:p>
            <a:pPr algn="l"/>
            <a:r>
              <a:rPr b="1" sz="2800">
                <a:solidFill>
                  <a:srgbClr val="232D37"/>
                </a:solidFill>
                <a:latin typeface="Times New Roman"/>
              </a:rPr>
              <a:t>Results – Administrator Portal (1)</a:t>
            </a:r>
          </a:p>
        </p:txBody>
      </p:sp>
      <p:pic>
        <p:nvPicPr>
          <p:cNvPr id="3" name="Picture 2" descr="10_admin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687" y="1150000"/>
            <a:ext cx="4846625" cy="50000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300000" y="6190000"/>
            <a:ext cx="57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i="1">
                <a:solidFill>
                  <a:srgbClr val="475569"/>
                </a:solidFill>
                <a:latin typeface="Times New Roman"/>
              </a:rPr>
              <a:t>Admin analytics dashboard</a:t>
            </a:r>
          </a:p>
        </p:txBody>
      </p:sp>
      <p:pic>
        <p:nvPicPr>
          <p:cNvPr id="5" name="Picture 4" descr="11_admin_all_complai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6000" y="1150000"/>
            <a:ext cx="5688000" cy="50000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200000" y="6190000"/>
            <a:ext cx="57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i="1">
                <a:solidFill>
                  <a:srgbClr val="475569"/>
                </a:solidFill>
                <a:latin typeface="Times New Roman"/>
              </a:rPr>
              <a:t>All complaints – assign action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20000"/>
            <a:ext cx="10972800" cy="700000"/>
          </a:xfrm>
        </p:spPr>
        <p:txBody>
          <a:bodyPr/>
          <a:lstStyle/>
          <a:p>
            <a:pPr algn="l"/>
            <a:r>
              <a:rPr b="1" sz="2800">
                <a:solidFill>
                  <a:srgbClr val="232D37"/>
                </a:solidFill>
                <a:latin typeface="Times New Roman"/>
              </a:rPr>
              <a:t>Results – Administrator Portal (2)</a:t>
            </a:r>
          </a:p>
        </p:txBody>
      </p:sp>
      <p:pic>
        <p:nvPicPr>
          <p:cNvPr id="3" name="Picture 2" descr="12_assign_mod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000" y="1150000"/>
            <a:ext cx="5700000" cy="4922727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300000" y="6112727"/>
            <a:ext cx="57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i="1">
                <a:solidFill>
                  <a:srgbClr val="475569"/>
                </a:solidFill>
                <a:latin typeface="Times New Roman"/>
              </a:rPr>
              <a:t>Assign complaint to staff</a:t>
            </a:r>
          </a:p>
        </p:txBody>
      </p:sp>
      <p:pic>
        <p:nvPicPr>
          <p:cNvPr id="5" name="Picture 4" descr="13_departm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0000" y="1150000"/>
            <a:ext cx="5700000" cy="2998312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200000" y="4188312"/>
            <a:ext cx="57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i="1">
                <a:solidFill>
                  <a:srgbClr val="475569"/>
                </a:solidFill>
                <a:latin typeface="Times New Roman"/>
              </a:rPr>
              <a:t>Department management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20000"/>
            <a:ext cx="10972800" cy="700000"/>
          </a:xfrm>
        </p:spPr>
        <p:txBody>
          <a:bodyPr/>
          <a:lstStyle/>
          <a:p>
            <a:pPr algn="l"/>
            <a:r>
              <a:rPr b="1" sz="2800">
                <a:solidFill>
                  <a:srgbClr val="232D37"/>
                </a:solidFill>
                <a:latin typeface="Times New Roman"/>
              </a:rPr>
              <a:t>Results – Staff Portal</a:t>
            </a:r>
          </a:p>
        </p:txBody>
      </p:sp>
      <p:pic>
        <p:nvPicPr>
          <p:cNvPr id="3" name="Picture 2" descr="17_staff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000" y="1150000"/>
            <a:ext cx="5700000" cy="4910337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300000" y="6100337"/>
            <a:ext cx="57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i="1">
                <a:solidFill>
                  <a:srgbClr val="475569"/>
                </a:solidFill>
                <a:latin typeface="Times New Roman"/>
              </a:rPr>
              <a:t>Staff dashboard</a:t>
            </a:r>
          </a:p>
        </p:txBody>
      </p:sp>
      <p:pic>
        <p:nvPicPr>
          <p:cNvPr id="5" name="Picture 4" descr="19_staff_update_mod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0000" y="1150000"/>
            <a:ext cx="5700000" cy="4922727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200000" y="6112727"/>
            <a:ext cx="57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i="1">
                <a:solidFill>
                  <a:srgbClr val="475569"/>
                </a:solidFill>
                <a:latin typeface="Times New Roman"/>
              </a:rPr>
              <a:t>Progress update / resolve dialog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20000"/>
            <a:ext cx="10972800" cy="800000"/>
          </a:xfrm>
        </p:spPr>
        <p:txBody>
          <a:bodyPr/>
          <a:lstStyle/>
          <a:p>
            <a:pPr algn="l"/>
            <a:r>
              <a:rPr b="1" sz="2800">
                <a:solidFill>
                  <a:srgbClr val="232D37"/>
                </a:solidFill>
                <a:latin typeface="Times New Roman"/>
              </a:rPr>
              <a:t>Testing &amp; Results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09600" y="1050000"/>
          <a:ext cx="10972799" cy="45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3704"/>
                <a:gridCol w="3816626"/>
                <a:gridCol w="2862469"/>
              </a:tblGrid>
              <a:tr h="5000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Times New Roman"/>
                        </a:rPr>
                        <a:t>Test case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Times New Roman"/>
                        </a:rPr>
                        <a:t>Expected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Times New Roman"/>
                        </a:rPr>
                        <a:t>Result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</a:tr>
              <a:tr h="5000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32D37"/>
                          </a:solidFill>
                          <a:latin typeface="Times New Roman"/>
                        </a:rPr>
                        <a:t>Login with valid / wrong credentials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32D37"/>
                          </a:solidFill>
                          <a:latin typeface="Times New Roman"/>
                        </a:rPr>
                        <a:t>200 + token / 401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32D37"/>
                          </a:solidFill>
                          <a:latin typeface="Times New Roman"/>
                        </a:rPr>
                        <a:t>Passed (401 in ~27 ms)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00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32D37"/>
                          </a:solidFill>
                          <a:latin typeface="Times New Roman"/>
                        </a:rPr>
                        <a:t>Call API without token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32D37"/>
                          </a:solidFill>
                          <a:latin typeface="Times New Roman"/>
                        </a:rPr>
                        <a:t>401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32D37"/>
                          </a:solidFill>
                          <a:latin typeface="Times New Roman"/>
                        </a:rPr>
                        <a:t>Passed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000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32D37"/>
                          </a:solidFill>
                          <a:latin typeface="Times New Roman"/>
                        </a:rPr>
                        <a:t>Student calls admin-only assign API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32D37"/>
                          </a:solidFill>
                          <a:latin typeface="Times New Roman"/>
                        </a:rPr>
                        <a:t>403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32D37"/>
                          </a:solidFill>
                          <a:latin typeface="Times New Roman"/>
                        </a:rPr>
                        <a:t>Passed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00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32D37"/>
                          </a:solidFill>
                          <a:latin typeface="Times New Roman"/>
                        </a:rPr>
                        <a:t>Complaint with short title/description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32D37"/>
                          </a:solidFill>
                          <a:latin typeface="Times New Roman"/>
                        </a:rPr>
                        <a:t>400 validation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32D37"/>
                          </a:solidFill>
                          <a:latin typeface="Times New Roman"/>
                        </a:rPr>
                        <a:t>Passed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000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32D37"/>
                          </a:solidFill>
                          <a:latin typeface="Times New Roman"/>
                        </a:rPr>
                        <a:t>Valid complaint lodged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32D37"/>
                          </a:solidFill>
                          <a:latin typeface="Times New Roman"/>
                        </a:rPr>
                        <a:t>PENDING + timeline + JMS notification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32D37"/>
                          </a:solidFill>
                          <a:latin typeface="Times New Roman"/>
                        </a:rPr>
                        <a:t>Passed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00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32D37"/>
                          </a:solidFill>
                          <a:latin typeface="Times New Roman"/>
                        </a:rPr>
                        <a:t>Staff attempts RESOLVED → CLOSED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32D37"/>
                          </a:solidFill>
                          <a:latin typeface="Times New Roman"/>
                        </a:rPr>
                        <a:t>400 invalid transition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32D37"/>
                          </a:solidFill>
                          <a:latin typeface="Times New Roman"/>
                        </a:rPr>
                        <a:t>Passed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000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32D37"/>
                          </a:solidFill>
                          <a:latin typeface="Times New Roman"/>
                        </a:rPr>
                        <a:t>Register with duplicate e-mail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32D37"/>
                          </a:solidFill>
                          <a:latin typeface="Times New Roman"/>
                        </a:rPr>
                        <a:t>400 rejected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32D37"/>
                          </a:solidFill>
                          <a:latin typeface="Times New Roman"/>
                        </a:rPr>
                        <a:t>Passed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00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32D37"/>
                          </a:solidFill>
                          <a:latin typeface="Times New Roman"/>
                        </a:rPr>
                        <a:t>Passwords in MySQL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32D37"/>
                          </a:solidFill>
                          <a:latin typeface="Times New Roman"/>
                        </a:rPr>
                        <a:t>salt:hash, not plain text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32D37"/>
                          </a:solidFill>
                          <a:latin typeface="Times New Roman"/>
                        </a:rPr>
                        <a:t>Passed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09600" y="5800000"/>
            <a:ext cx="109728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232D37"/>
                </a:solidFill>
                <a:latin typeface="Times New Roman"/>
              </a:rPr>
              <a:t>• Outcome: </a:t>
            </a:r>
            <a:r>
              <a:rPr sz="1700">
                <a:solidFill>
                  <a:srgbClr val="232D37"/>
                </a:solidFill>
                <a:latin typeface="Times New Roman"/>
              </a:rPr>
              <a:t>all 8 scenarios behaved as designed; list/auth calls took about 3–35 ms on a local server.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000000"/>
            <a:ext cx="10972800" cy="900000"/>
          </a:xfrm>
        </p:spPr>
        <p:txBody>
          <a:bodyPr/>
          <a:lstStyle/>
          <a:p>
            <a:pPr algn="ctr"/>
            <a:r>
              <a:rPr b="1" sz="2800">
                <a:solidFill>
                  <a:srgbClr val="232D37"/>
                </a:solidFill>
                <a:latin typeface="Times New Roman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2300000"/>
            <a:ext cx="1097280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</a:pPr>
            <a:r>
              <a:rPr sz="3200" b="1">
                <a:solidFill>
                  <a:srgbClr val="1D4ED8"/>
                </a:solidFill>
                <a:latin typeface="Times New Roman"/>
              </a:rPr>
              <a:t>Queries?</a:t>
            </a:r>
          </a:p>
          <a:p>
            <a:pPr algn="ctr">
              <a:spcAft>
                <a:spcPts val="1400"/>
              </a:spcAft>
            </a:pPr>
            <a:r>
              <a:rPr sz="2200" b="0">
                <a:solidFill>
                  <a:srgbClr val="232D37"/>
                </a:solidFill>
                <a:latin typeface="Times New Roman"/>
              </a:rPr>
              <a:t>CampusCare – College Complaint &amp; Service Management System</a:t>
            </a:r>
          </a:p>
          <a:p>
            <a:pPr algn="ctr">
              <a:spcAft>
                <a:spcPts val="1400"/>
              </a:spcAft>
            </a:pPr>
            <a:r>
              <a:rPr sz="2000" b="0">
                <a:solidFill>
                  <a:srgbClr val="232D37"/>
                </a:solidFill>
                <a:latin typeface="Times New Roman"/>
              </a:rPr>
              <a:t>Chinmay Meshram  |  RBT24CB028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161</Words>
  <Application>Microsoft Office PowerPoint</Application>
  <PresentationFormat>Widescreen</PresentationFormat>
  <Paragraphs>35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Aptos</vt:lpstr>
      <vt:lpstr>Aptos Display</vt:lpstr>
      <vt:lpstr>Arial</vt:lpstr>
      <vt:lpstr>Book Antiqua</vt:lpstr>
      <vt:lpstr>Bookman Old Style</vt:lpstr>
      <vt:lpstr>Times New Roman</vt:lpstr>
      <vt:lpstr>Office Theme</vt:lpstr>
      <vt:lpstr>PowerPoint Presentation</vt:lpstr>
      <vt:lpstr>Index</vt:lpstr>
      <vt:lpstr>Introduction / Background</vt:lpstr>
      <vt:lpstr>Problem Definition &amp; Objectives </vt:lpstr>
      <vt:lpstr>Literature Survey </vt:lpstr>
      <vt:lpstr>Feasibility Study</vt:lpstr>
      <vt:lpstr>System Design &amp; Architecture </vt:lpstr>
      <vt:lpstr>Technology &amp; Tools Used </vt:lpstr>
      <vt:lpstr>Implementation &amp; Results </vt:lpstr>
      <vt:lpstr>Conclusion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9</cp:revision>
  <dcterms:created xsi:type="dcterms:W3CDTF">2026-10-05T10:44:11Z</dcterms:created>
  <dcterms:modified xsi:type="dcterms:W3CDTF">2026-10-05T10:46:50Z</dcterms:modified>
</cp:coreProperties>
</file>